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DF151-135E-8B65-9458-B02A5FA12299}" v="1" dt="2026-03-16T11:17:58.161"/>
    <p1510:client id="{F597C103-723E-77E4-0697-13E95EABEEF2}" v="15" dt="2026-03-16T02:58:07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46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65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274320"/>
            <a:ext cx="2377440" cy="2377440"/>
          </a:xfrm>
          <a:prstGeom prst="ellipse">
            <a:avLst/>
          </a:prstGeom>
          <a:solidFill>
            <a:srgbClr val="4472C4">
              <a:alpha val="22000"/>
            </a:srgbClr>
          </a:solidFill>
          <a:ln w="12700">
            <a:solidFill>
              <a:srgbClr val="4472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DSCI 521 — Data Analysis and Interpretation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380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EDA, Statistical Analysis &amp; Machine Learning to Detect At-Risk Customers Early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Syed  |  Aadesh Kalbhor  |  Sohan Miryalkar  |  Drexel University  |  Winter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Contributions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09728" cy="1234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078992"/>
            <a:ext cx="822960" cy="8229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481328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Syed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481328" y="1325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as6387@drexel.edu  |  Data Analysis · Data Visualization · EDA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481328" y="1600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Contributions: Data cleaning pipeline, EDA visualizations, segment analysis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109728" cy="1234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0352" y="2450592"/>
            <a:ext cx="822960" cy="8229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450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481328" y="2377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 </a:t>
            </a:r>
            <a:r>
              <a:rPr lang="en-US" sz="14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Miryalkar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481328" y="2697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sm5243@drexel.edu |  Data Analysis · Programming · Statistical Analysis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481328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Contributions: Statistical analysis, EDA, feature importance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109728" cy="1234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" y="3822192"/>
            <a:ext cx="822960" cy="8229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822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1481328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 Kalbhor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481328" y="40690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ak4567@drexel.edu  |  Data Visualization · Programming · Data Interpretation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481328" y="4343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Contributions: Predictive modeling, model evaluation, results interpretation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Stakeholders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119329" y="862788"/>
            <a:ext cx="2697480" cy="13716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19329" y="9085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3119329" y="1621740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analyzed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37490" y="862788"/>
            <a:ext cx="2697480" cy="13716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7490" y="9085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6037490" y="1621740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in portfolio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01168" y="873629"/>
            <a:ext cx="2697480" cy="13716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" y="919349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201168" y="1632581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before customers leave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companies lose significant revenue when customers close accounts. Churn is gradual — declining transactions, falling balances, and reduced engagement signal attrition weeks before it happens. Standard approaches react too late. This project aims to detect those early behavioral signals proactively.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269748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29768" y="4041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portfolio health and reduce attrition rates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200400" y="35661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69748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Retention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310128" y="4041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offers before a customer churns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080760" y="35661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3566160"/>
            <a:ext cx="269748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0488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Analytics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190488" y="4041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early warning systems into existing pipelines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1755648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Credit Card Customers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11480" y="1687068"/>
            <a:ext cx="374904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053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1755648" y="17053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analyttica.com (CC0 License)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755648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 customers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11480" y="2354580"/>
            <a:ext cx="374904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728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755648" y="23728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11480" y="2688336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06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1755648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11480" y="3022092"/>
            <a:ext cx="374904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040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1755648" y="30403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11480" y="3355848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374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1755648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Attrition_Flag (binary)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11480" y="3689604"/>
            <a:ext cx="374904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7078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1755648" y="37078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 Existing / 16.1% Attrited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26280" y="822960"/>
            <a:ext cx="4297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470916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Features: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4754880" y="169164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Count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754880" y="1947672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1883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Amount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754880" y="2203704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2139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Activity Change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754880" y="2459736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19472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754880" y="2715768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9472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4709160" y="2953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Features: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4754880" y="329184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9472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(12 mo)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4754880" y="3547872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19472" y="348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Inactive (12 mo)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4754880" y="3803904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9472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 Held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7178040" y="13840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Features: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7176115" y="194767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42632" y="1609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7178040" y="169040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42632" y="1868985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on Book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7176115" y="2220247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42632" y="213620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Count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7178040" y="297131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Features:</a:t>
            </a:r>
            <a:endParaRPr lang="en-US" sz="1100"/>
          </a:p>
        </p:txBody>
      </p:sp>
      <p:sp>
        <p:nvSpPr>
          <p:cNvPr id="58" name="Shape 56"/>
          <p:cNvSpPr/>
          <p:nvPr/>
        </p:nvSpPr>
        <p:spPr>
          <a:xfrm>
            <a:off x="7176115" y="331470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42632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7342632" y="341889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Approach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95528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95528" y="12527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83.9/16.1% class imbalance — confirmed need for balanced modeling and recall-focused evaluation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230368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Numeric Features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230368" y="12527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for every numeric feature split by churn status — revealing which features separate the classes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892808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892808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95528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Investigation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795528" y="2276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two distinct behavioral segments in existing customers based on transaction count distribution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54880" y="189280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892808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892808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230368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Profiling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230368" y="2276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existing customers into High-Volume (60+) and Low-Volume (&lt;60) — compared 11 features across segments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20040" y="2916936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916936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916936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95528" y="2990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Analysis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795528" y="33009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across all 6 categorical features with customer counts — identifying highest-risk groups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87874" y="289864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916936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916936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230368" y="2990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230368" y="33009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feature redundancy (Credit Limit / Available Credit r=0.99) and strongest churn correlations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320040" y="3941064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941064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941064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795528" y="4014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T-Tests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795528" y="43251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statistical significance (p&lt;0.0001) for all behavioral features — ruled out demographic predictors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754880" y="3941064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941064"/>
            <a:ext cx="384048" cy="8961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3941064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5230368" y="4014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5230368" y="43251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all features by information content — confirmed behavioral features dominate categorical ones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Behavioral Insights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2344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vs 69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vs Existing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97480" cy="12344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vs 1,257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revolving balance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vs Existing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6080760" y="822960"/>
            <a:ext cx="2697480" cy="12344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868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vs 0.30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08076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utilization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vs Existing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9144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 is #1 predictor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383280" y="22311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45 transactions vs 69 for existing — a 34% gap that is highly statistically significant (p &lt; 0.0001)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9144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27797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 drops sharply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383280" y="27980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customers carry almost half the revolving balance — suggesting they are winding down their card usage before leaving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0040" y="3310128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310128"/>
            <a:ext cx="9144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" y="3346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&gt; Demographic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383280" y="3364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behavioral features are statistically significant. Age, tenure, and dependents show NO significant difference between groups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9144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is a red flag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38328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customers contact the bank MORE (avg 3.0 vs 2.4 contacts) — dissatisfied customers reach out before churning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320040" y="4443984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443984"/>
            <a:ext cx="9144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predicts departure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383280" y="4498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months inactive strongly correlates with churn — disengagement is a measurable early warning signal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Discovery &amp; Segment Profiling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77240"/>
          </a:xfrm>
          <a:prstGeom prst="rect">
            <a:avLst/>
          </a:prstGeom>
          <a:solidFill>
            <a:srgbClr val="4472C4">
              <a:alpha val="12000"/>
            </a:srgb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Existing customers show a bimodal transaction count distribution — two distinct behavioral groups separated at ~60 transactions. Churned customers cluster entirely in the low-volume range.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 Comparison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5603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2926080" y="2057400"/>
            <a:ext cx="182880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(60+)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800600" y="2057400"/>
            <a:ext cx="1828800" cy="384048"/>
          </a:xfrm>
          <a:prstGeom prst="rect">
            <a:avLst/>
          </a:prstGeom>
          <a:solidFill>
            <a:srgbClr val="E5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 (&lt;60)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675120" y="2057400"/>
            <a:ext cx="2011680" cy="384048"/>
          </a:xfrm>
          <a:prstGeom prst="rect">
            <a:avLst/>
          </a:prstGeom>
          <a:solidFill>
            <a:srgbClr val="1A335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441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Count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926080" y="244144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800600" y="244144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675120" y="2441448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2441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High-Vol: +102%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256032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88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Amount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2926080" y="2788920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788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~$5,200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800600" y="2788920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~$2,800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675120" y="2788920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512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High-Vol: +86%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20040" y="31363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136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Revolving Balance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2926080" y="31363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26080" y="3136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~$1,450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800600" y="31363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3136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~$950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675120" y="3136392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7512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High-Vol: +53%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320040" y="3483864"/>
            <a:ext cx="256032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34838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Utilization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2926080" y="3483864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26080" y="3483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~0.35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800600" y="3483864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0600" y="3483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~0.18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675120" y="3483864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0" y="34838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High-Vol: +94%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320040" y="38313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38313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Months Inactive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2926080" y="38313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926080" y="3831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4800600" y="38313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3831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675120" y="3831336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75120" y="38313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Low-Vol: +61%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320040" y="4178808"/>
            <a:ext cx="256032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4178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Contacts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2926080" y="4178808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926080" y="4178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4800600" y="4178808"/>
            <a:ext cx="18288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4178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~3.1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6675120" y="4178808"/>
            <a:ext cx="201168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675120" y="4178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Low-Vol: +41%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2920" y="4599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Low-Volume existing customers behave like pre-churners — they represent a latent attrition risk that retention teams should prioritize proactively.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T-Tests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Results — Attrited vs Existing Customers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37744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2743200" y="1170432"/>
            <a:ext cx="1371600" cy="36576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170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(Attrited)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160520" y="1170432"/>
            <a:ext cx="1371600" cy="36576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1170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(Existing)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577840" y="1170432"/>
            <a:ext cx="109728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720840" y="1170432"/>
            <a:ext cx="109728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20040" y="1536192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53619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Count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1536192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15361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60520" y="1536192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15361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77840" y="1536192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53619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6720840" y="1536192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0840" y="153619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0040" y="1837944"/>
            <a:ext cx="237744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183794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Activity Change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743200" y="1837944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0" y="183794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160520" y="1837944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60520" y="183794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5577840" y="1837944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0" y="183794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6720840" y="1837944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183794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320040" y="2139696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21396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2743200" y="2139696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0" y="2139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672.8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160520" y="2139696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139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1,256.6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5577840" y="2139696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77840" y="213969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6720840" y="2139696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840" y="213969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320040" y="2441448"/>
            <a:ext cx="237744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44144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Amount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2743200" y="2441448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0" y="244144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4160520" y="2441448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60520" y="244144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4,654.7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5577840" y="2441448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77840" y="24414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720840" y="2441448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720840" y="24414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320040" y="2743200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274320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(12 mo)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2743200" y="2743200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0" y="27432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4160520" y="2743200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60520" y="27432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5577840" y="2743200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577840" y="274320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6720840" y="2743200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720840" y="274320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320040" y="3044952"/>
            <a:ext cx="237744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30449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Utilization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2743200" y="3044952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43200" y="304495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4160520" y="3044952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60520" y="304495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5577840" y="3044952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577840" y="304495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000"/>
          </a:p>
        </p:txBody>
      </p:sp>
      <p:sp>
        <p:nvSpPr>
          <p:cNvPr id="73" name="Shape 71"/>
          <p:cNvSpPr/>
          <p:nvPr/>
        </p:nvSpPr>
        <p:spPr>
          <a:xfrm>
            <a:off x="6720840" y="3044952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720840" y="304495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320040" y="3346704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20040" y="334670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2743200" y="3346704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43200" y="334670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4160520" y="3346704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60520" y="334670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</a:t>
            </a:r>
            <a:endParaRPr lang="en-US" sz="1000"/>
          </a:p>
        </p:txBody>
      </p:sp>
      <p:sp>
        <p:nvSpPr>
          <p:cNvPr id="81" name="Shape 79"/>
          <p:cNvSpPr/>
          <p:nvPr/>
        </p:nvSpPr>
        <p:spPr>
          <a:xfrm>
            <a:off x="5577840" y="3346704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577840" y="334670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1000"/>
          </a:p>
        </p:txBody>
      </p:sp>
      <p:sp>
        <p:nvSpPr>
          <p:cNvPr id="83" name="Shape 81"/>
          <p:cNvSpPr/>
          <p:nvPr/>
        </p:nvSpPr>
        <p:spPr>
          <a:xfrm>
            <a:off x="6720840" y="3346704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720840" y="334670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320040" y="3648456"/>
            <a:ext cx="237744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0040" y="364845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as Customer</a:t>
            </a:r>
            <a:endParaRPr lang="en-US" sz="1000"/>
          </a:p>
        </p:txBody>
      </p:sp>
      <p:sp>
        <p:nvSpPr>
          <p:cNvPr id="87" name="Shape 85"/>
          <p:cNvSpPr/>
          <p:nvPr/>
        </p:nvSpPr>
        <p:spPr>
          <a:xfrm>
            <a:off x="2743200" y="3648456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743200" y="36484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</a:t>
            </a:r>
            <a:endParaRPr lang="en-US" sz="1000"/>
          </a:p>
        </p:txBody>
      </p:sp>
      <p:sp>
        <p:nvSpPr>
          <p:cNvPr id="89" name="Shape 87"/>
          <p:cNvSpPr/>
          <p:nvPr/>
        </p:nvSpPr>
        <p:spPr>
          <a:xfrm>
            <a:off x="4160520" y="3648456"/>
            <a:ext cx="137160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60520" y="36484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</a:t>
            </a:r>
            <a:endParaRPr lang="en-US" sz="1000"/>
          </a:p>
        </p:txBody>
      </p:sp>
      <p:sp>
        <p:nvSpPr>
          <p:cNvPr id="91" name="Shape 89"/>
          <p:cNvSpPr/>
          <p:nvPr/>
        </p:nvSpPr>
        <p:spPr>
          <a:xfrm>
            <a:off x="5577840" y="3648456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577840" y="364845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0.168</a:t>
            </a:r>
            <a:endParaRPr lang="en-US" sz="1000"/>
          </a:p>
        </p:txBody>
      </p:sp>
      <p:sp>
        <p:nvSpPr>
          <p:cNvPr id="93" name="Shape 91"/>
          <p:cNvSpPr/>
          <p:nvPr/>
        </p:nvSpPr>
        <p:spPr>
          <a:xfrm>
            <a:off x="6720840" y="3648456"/>
            <a:ext cx="1097280" cy="28346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720840" y="364845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95" name="Shape 93"/>
          <p:cNvSpPr/>
          <p:nvPr/>
        </p:nvSpPr>
        <p:spPr>
          <a:xfrm>
            <a:off x="320040" y="3950208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20040" y="395020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Dependents</a:t>
            </a:r>
            <a:endParaRPr lang="en-US" sz="1000"/>
          </a:p>
        </p:txBody>
      </p:sp>
      <p:sp>
        <p:nvSpPr>
          <p:cNvPr id="97" name="Shape 95"/>
          <p:cNvSpPr/>
          <p:nvPr/>
        </p:nvSpPr>
        <p:spPr>
          <a:xfrm>
            <a:off x="2743200" y="3950208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2743200" y="39502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</a:t>
            </a:r>
            <a:endParaRPr lang="en-US" sz="1000"/>
          </a:p>
        </p:txBody>
      </p:sp>
      <p:sp>
        <p:nvSpPr>
          <p:cNvPr id="99" name="Shape 97"/>
          <p:cNvSpPr/>
          <p:nvPr/>
        </p:nvSpPr>
        <p:spPr>
          <a:xfrm>
            <a:off x="4160520" y="3950208"/>
            <a:ext cx="13716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160520" y="39502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</a:t>
            </a:r>
            <a:endParaRPr lang="en-US" sz="1000"/>
          </a:p>
        </p:txBody>
      </p:sp>
      <p:sp>
        <p:nvSpPr>
          <p:cNvPr id="101" name="Shape 99"/>
          <p:cNvSpPr/>
          <p:nvPr/>
        </p:nvSpPr>
        <p:spPr>
          <a:xfrm>
            <a:off x="5577840" y="3950208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577840" y="395020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000"/>
          </a:p>
        </p:txBody>
      </p:sp>
      <p:sp>
        <p:nvSpPr>
          <p:cNvPr id="103" name="Shape 101"/>
          <p:cNvSpPr/>
          <p:nvPr/>
        </p:nvSpPr>
        <p:spPr>
          <a:xfrm>
            <a:off x="6720840" y="3950208"/>
            <a:ext cx="10972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720840" y="395020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105" name="Shape 103"/>
          <p:cNvSpPr/>
          <p:nvPr/>
        </p:nvSpPr>
        <p:spPr>
          <a:xfrm>
            <a:off x="320040" y="4315968"/>
            <a:ext cx="269748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11480" y="4370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behavioral features</a:t>
            </a:r>
            <a:endParaRPr lang="en-US" sz="1100"/>
          </a:p>
        </p:txBody>
      </p:sp>
      <p:sp>
        <p:nvSpPr>
          <p:cNvPr id="107" name="Text 105"/>
          <p:cNvSpPr/>
          <p:nvPr/>
        </p:nvSpPr>
        <p:spPr>
          <a:xfrm>
            <a:off x="411480" y="4626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 (p &lt; 0.0001) — differences are not due to chance</a:t>
            </a:r>
            <a:endParaRPr lang="en-US" sz="950"/>
          </a:p>
        </p:txBody>
      </p:sp>
      <p:sp>
        <p:nvSpPr>
          <p:cNvPr id="108" name="Shape 106"/>
          <p:cNvSpPr/>
          <p:nvPr/>
        </p:nvSpPr>
        <p:spPr>
          <a:xfrm>
            <a:off x="3200400" y="4315968"/>
            <a:ext cx="269748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291840" y="4370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demographic features</a:t>
            </a:r>
            <a:endParaRPr lang="en-US" sz="1100"/>
          </a:p>
        </p:txBody>
      </p:sp>
      <p:sp>
        <p:nvSpPr>
          <p:cNvPr id="110" name="Text 108"/>
          <p:cNvSpPr/>
          <p:nvPr/>
        </p:nvSpPr>
        <p:spPr>
          <a:xfrm>
            <a:off x="3291840" y="4626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— age, tenure, dependents are poor churn predictors</a:t>
            </a:r>
            <a:endParaRPr lang="en-US" sz="950"/>
          </a:p>
        </p:txBody>
      </p:sp>
      <p:sp>
        <p:nvSpPr>
          <p:cNvPr id="111" name="Shape 109"/>
          <p:cNvSpPr/>
          <p:nvPr/>
        </p:nvSpPr>
        <p:spPr>
          <a:xfrm>
            <a:off x="6080760" y="4315968"/>
            <a:ext cx="269748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172200" y="4370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&gt; Who</a:t>
            </a:r>
            <a:endParaRPr lang="en-US" sz="1100"/>
          </a:p>
        </p:txBody>
      </p:sp>
      <p:sp>
        <p:nvSpPr>
          <p:cNvPr id="113" name="Text 111"/>
          <p:cNvSpPr/>
          <p:nvPr/>
        </p:nvSpPr>
        <p:spPr>
          <a:xfrm>
            <a:off x="6172200" y="4626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use their card matters far more than who they are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feature weights to churn probability. Coefficients are interpretable — each feature has a clear directional impact. Fast to train and useful for understanding which features matter most.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84632" y="301752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84632" y="333756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84632" y="365760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recall on attrited class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Lower precision (52%) · Misses complex interactions · 63% F1 on attrited class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489204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89204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892040" y="1737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captures non-linear relationships and feature interactions that Logistic Regression misses. Robust to outliers and feature scale. Uses class_weight='balanced' to handle imbalance.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89204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919472" y="301752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84064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accuracy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919472" y="333756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84064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attrited precision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919472" y="365760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84064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F1 — best overall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892040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Less interpretable (black box) · Slightly lower recall (77%) · Slower to train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10312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468880" y="841248"/>
            <a:ext cx="201168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0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26280" y="841248"/>
            <a:ext cx="201168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583680" y="841248"/>
            <a:ext cx="1645920" cy="438912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8412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" y="128016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2801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280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26280" y="12801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1280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583680" y="1280160"/>
            <a:ext cx="1645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12801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✓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320040" y="1783080"/>
            <a:ext cx="21031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17830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Precision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2468880" y="1783080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1783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526280" y="1783080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1783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583680" y="1783080"/>
            <a:ext cx="1645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✓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320040" y="228600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Recall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2468880" y="228600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68880" y="2286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300"/>
          </a:p>
        </p:txBody>
      </p:sp>
      <p:sp>
        <p:nvSpPr>
          <p:cNvPr id="32" name="Shape 30"/>
          <p:cNvSpPr/>
          <p:nvPr/>
        </p:nvSpPr>
        <p:spPr>
          <a:xfrm>
            <a:off x="4526280" y="228600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26280" y="2286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6583680" y="2286000"/>
            <a:ext cx="1645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2286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✓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320040" y="2788920"/>
            <a:ext cx="21031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2788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F1-Score</a:t>
            </a:r>
            <a:endParaRPr lang="en-US" sz="1300"/>
          </a:p>
        </p:txBody>
      </p:sp>
      <p:sp>
        <p:nvSpPr>
          <p:cNvPr id="38" name="Shape 36"/>
          <p:cNvSpPr/>
          <p:nvPr/>
        </p:nvSpPr>
        <p:spPr>
          <a:xfrm>
            <a:off x="2468880" y="2788920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68880" y="2788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300"/>
          </a:p>
        </p:txBody>
      </p:sp>
      <p:sp>
        <p:nvSpPr>
          <p:cNvPr id="40" name="Shape 38"/>
          <p:cNvSpPr/>
          <p:nvPr/>
        </p:nvSpPr>
        <p:spPr>
          <a:xfrm>
            <a:off x="4526280" y="2788920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0" y="2788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300"/>
          </a:p>
        </p:txBody>
      </p:sp>
      <p:sp>
        <p:nvSpPr>
          <p:cNvPr id="42" name="Shape 40"/>
          <p:cNvSpPr/>
          <p:nvPr/>
        </p:nvSpPr>
        <p:spPr>
          <a:xfrm>
            <a:off x="6583680" y="2788920"/>
            <a:ext cx="1645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0" y="27889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✓</a:t>
            </a:r>
            <a:endParaRPr lang="en-US" sz="1300"/>
          </a:p>
        </p:txBody>
      </p:sp>
      <p:sp>
        <p:nvSpPr>
          <p:cNvPr id="44" name="Shape 42"/>
          <p:cNvSpPr/>
          <p:nvPr/>
        </p:nvSpPr>
        <p:spPr>
          <a:xfrm>
            <a:off x="320040" y="3401568"/>
            <a:ext cx="201168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34381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3200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2468880" y="3401568"/>
            <a:ext cx="201168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68880" y="34381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246888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Precision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(RF)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4617720" y="3406281"/>
            <a:ext cx="2011680" cy="914400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17720" y="34381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400">
              <a:solidFill>
                <a:srgbClr val="0070C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46177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Recall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(LR)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6766560" y="3401568"/>
            <a:ext cx="201168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766560" y="34381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wins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1600"/>
          </a:p>
        </p:txBody>
      </p:sp>
      <p:sp>
        <p:nvSpPr>
          <p:cNvPr id="55" name="Text 53"/>
          <p:cNvSpPr/>
          <p:nvPr/>
        </p:nvSpPr>
        <p:spPr>
          <a:xfrm>
            <a:off x="67665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overall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255069" y="4407408"/>
            <a:ext cx="8568891" cy="502920"/>
          </a:xfrm>
          <a:prstGeom prst="rect">
            <a:avLst/>
          </a:prstGeom>
          <a:solidFill>
            <a:srgbClr val="4472C4">
              <a:alpha val="12000"/>
            </a:srgb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480560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LR achieves higher recall (81% vs 77%) — it catches more actual churners but at the cost of more false alarms. RF's precision advantage (93% vs 52%) makes it preferable for targeted retention campaigns. </a:t>
            </a:r>
            <a:r>
              <a:rPr lang="en-US" sz="1000"/>
              <a:t>5-fold cross-validation confirms model stability — RF achieves 95.5% accuracy (±0.6%) and 84.8% F1 (±2.1%)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Usage &amp; Applications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978408"/>
            <a:ext cx="502920" cy="5029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78992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078992" y="12252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Random Forest model as a real-time scoring engine. Score each customer monthly and flag anyone crossing a churn probability threshold for immediate retention outreach.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819656"/>
            <a:ext cx="502920" cy="5029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078992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Campaigns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078992" y="206654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use the churn probability score to prioritize which customers receive retention offers — balance upgrades, fee waivers, reward bonuses — before they decide to leave.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" y="2660904"/>
            <a:ext cx="502920" cy="5029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078992" y="2596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Segment-Based Strategy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078992" y="290779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bimodal discovery enables a two-track strategy: keep High-Volume customers engaged with premium benefits, and re-engage Low-Volume customers with incentives to increase transaction frequency.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" y="3502152"/>
            <a:ext cx="502920" cy="5029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078992" y="3438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Modeling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078992" y="37490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churn probability with transaction amount data to calculate expected revenue loss per at-risk customer — enabling ROI-driven prioritization of retention spend.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" y="4343400"/>
            <a:ext cx="502920" cy="5029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1078992" y="4279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Dashboard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078992" y="45902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can monitor real-time churn risk across the entire portfolio, tracking which segments are deteriorating and responding before revenue impact materializes.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Challenges &amp; Future Work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Dimension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a static snapshot — no time-series transaction history. Churn is inherently temporal; sequential patterns over 6 months would be more predictive than any single point-in-time feature.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6035040" y="1024128"/>
            <a:ext cx="26517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10424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time-series features 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30352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 rows is sufficient for this scope but smaller than real banking deployments. May limit model generalizability to different customer segments or card products.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035040" y="1847088"/>
            <a:ext cx="26517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8653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Supplement with SMOTE oversampling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505456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30352" y="28712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default parameters. GridSearchCV could meaningfully improve Random Forest F1 and recall on the attrited class.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6035040" y="2706624"/>
            <a:ext cx="26517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27249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hyperparameter search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320040" y="33695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369564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4244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Model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30352" y="37353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doesn't explain individual predictions — a retention team can't understand WHY a specific customer was flagged.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6035040" y="3570732"/>
            <a:ext cx="26517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5890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SHAP value explanations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474720" cy="3474720"/>
          </a:xfrm>
          <a:prstGeom prst="ellipse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651760"/>
            <a:ext cx="2377440" cy="2377440"/>
          </a:xfrm>
          <a:prstGeom prst="ellipse">
            <a:avLst/>
          </a:prstGeom>
          <a:solidFill>
            <a:srgbClr val="4472C4">
              <a:alpha val="22000"/>
            </a:srgbClr>
          </a:solidFill>
          <a:ln w="12700">
            <a:solidFill>
              <a:srgbClr val="4472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 Churn Prediction — DSCI 521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32004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Syed  |  Aadesh Kalbhor  |  Sohan Miryalkar  |  Drexel University  |  DSCI 521 Winter 2026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1512</Words>
  <Application>Microsoft Office PowerPoint</Application>
  <PresentationFormat>On-screen Show (16:9)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Customer Churn Prediction</dc:title>
  <dc:subject>PptxGenJS Presentation</dc:subject>
  <dc:creator>Ahmed Syed, Aadesh Kalbhor, Sohan Miryalkar</dc:creator>
  <cp:lastModifiedBy>Ahmed Syed</cp:lastModifiedBy>
  <cp:revision>15</cp:revision>
  <dcterms:created xsi:type="dcterms:W3CDTF">2026-03-15T20:06:10Z</dcterms:created>
  <dcterms:modified xsi:type="dcterms:W3CDTF">2026-03-17T23:33:49Z</dcterms:modified>
</cp:coreProperties>
</file>